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0" r:id="rId2"/>
    <p:sldId id="267" r:id="rId3"/>
    <p:sldId id="268" r:id="rId4"/>
    <p:sldId id="269" r:id="rId5"/>
    <p:sldId id="266" r:id="rId6"/>
    <p:sldId id="261" r:id="rId7"/>
    <p:sldId id="262" r:id="rId8"/>
    <p:sldId id="263" r:id="rId9"/>
    <p:sldId id="259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pta Santosh LBE23S" userId="2a6b1b78-dc8d-481b-bcf1-83825d021d91" providerId="ADAL" clId="{0154079C-8161-43B3-B089-46F389CA1026}"/>
    <pc:docChg chg="custSel modSld">
      <pc:chgData name="Gupta Santosh LBE23S" userId="2a6b1b78-dc8d-481b-bcf1-83825d021d91" providerId="ADAL" clId="{0154079C-8161-43B3-B089-46F389CA1026}" dt="2026-01-22T19:30:02.723" v="2" actId="478"/>
      <pc:docMkLst>
        <pc:docMk/>
      </pc:docMkLst>
      <pc:sldChg chg="delSp modSp mod">
        <pc:chgData name="Gupta Santosh LBE23S" userId="2a6b1b78-dc8d-481b-bcf1-83825d021d91" providerId="ADAL" clId="{0154079C-8161-43B3-B089-46F389CA1026}" dt="2026-01-22T19:30:02.723" v="2" actId="478"/>
        <pc:sldMkLst>
          <pc:docMk/>
          <pc:sldMk cId="3548737912" sldId="266"/>
        </pc:sldMkLst>
        <pc:spChg chg="del">
          <ac:chgData name="Gupta Santosh LBE23S" userId="2a6b1b78-dc8d-481b-bcf1-83825d021d91" providerId="ADAL" clId="{0154079C-8161-43B3-B089-46F389CA1026}" dt="2026-01-22T19:30:02.723" v="2" actId="478"/>
          <ac:spMkLst>
            <pc:docMk/>
            <pc:sldMk cId="3548737912" sldId="266"/>
            <ac:spMk id="10" creationId="{2FB230D0-E6A4-BA14-A14A-48AC7409EDA1}"/>
          </ac:spMkLst>
        </pc:spChg>
        <pc:spChg chg="del mod">
          <ac:chgData name="Gupta Santosh LBE23S" userId="2a6b1b78-dc8d-481b-bcf1-83825d021d91" providerId="ADAL" clId="{0154079C-8161-43B3-B089-46F389CA1026}" dt="2026-01-22T19:29:52.964" v="1" actId="478"/>
          <ac:spMkLst>
            <pc:docMk/>
            <pc:sldMk cId="3548737912" sldId="266"/>
            <ac:spMk id="11" creationId="{34EEA4A0-4AF0-B634-EFAA-19F25C170AAC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EFFCA3-C5F0-4E13-A6E8-DFCD5C9D7C47}" type="datetimeFigureOut">
              <a:rPr lang="en-FI" smtClean="0"/>
              <a:t>22/01/2026</a:t>
            </a:fld>
            <a:endParaRPr lang="en-FI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5709CB-3A0C-4198-86E0-BAF7BEF0C306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11282165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EFFCA3-C5F0-4E13-A6E8-DFCD5C9D7C47}" type="datetimeFigureOut">
              <a:rPr lang="en-FI" smtClean="0"/>
              <a:t>22/01/2026</a:t>
            </a:fld>
            <a:endParaRPr lang="en-FI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5709CB-3A0C-4198-86E0-BAF7BEF0C306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34255700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shade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shade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shade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EFFCA3-C5F0-4E13-A6E8-DFCD5C9D7C47}" type="datetimeFigureOut">
              <a:rPr lang="en-FI" smtClean="0"/>
              <a:t>22/01/2026</a:t>
            </a:fld>
            <a:endParaRPr lang="en-FI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5709CB-3A0C-4198-86E0-BAF7BEF0C306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4093237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EFFCA3-C5F0-4E13-A6E8-DFCD5C9D7C47}" type="datetimeFigureOut">
              <a:rPr lang="en-FI" smtClean="0"/>
              <a:t>22/01/2026</a:t>
            </a:fld>
            <a:endParaRPr lang="en-FI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5709CB-3A0C-4198-86E0-BAF7BEF0C306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2692012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EFFCA3-C5F0-4E13-A6E8-DFCD5C9D7C47}" type="datetimeFigureOut">
              <a:rPr lang="en-FI" smtClean="0"/>
              <a:t>22/01/2026</a:t>
            </a:fld>
            <a:endParaRPr lang="en-FI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5709CB-3A0C-4198-86E0-BAF7BEF0C306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29788373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EFFCA3-C5F0-4E13-A6E8-DFCD5C9D7C47}" type="datetimeFigureOut">
              <a:rPr lang="en-FI" smtClean="0"/>
              <a:t>22/01/2026</a:t>
            </a:fld>
            <a:endParaRPr lang="en-FI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5709CB-3A0C-4198-86E0-BAF7BEF0C306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35535208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EFFCA3-C5F0-4E13-A6E8-DFCD5C9D7C47}" type="datetimeFigureOut">
              <a:rPr lang="en-FI" smtClean="0"/>
              <a:t>22/01/2026</a:t>
            </a:fld>
            <a:endParaRPr lang="en-FI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5709CB-3A0C-4198-86E0-BAF7BEF0C306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10560369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EFFCA3-C5F0-4E13-A6E8-DFCD5C9D7C47}" type="datetimeFigureOut">
              <a:rPr lang="en-FI" smtClean="0"/>
              <a:t>22/01/2026</a:t>
            </a:fld>
            <a:endParaRPr lang="en-FI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5709CB-3A0C-4198-86E0-BAF7BEF0C306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29963360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EFFCA3-C5F0-4E13-A6E8-DFCD5C9D7C47}" type="datetimeFigureOut">
              <a:rPr lang="en-FI" smtClean="0"/>
              <a:t>22/01/2026</a:t>
            </a:fld>
            <a:endParaRPr lang="en-FI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5709CB-3A0C-4198-86E0-BAF7BEF0C306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17990916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EFFCA3-C5F0-4E13-A6E8-DFCD5C9D7C47}" type="datetimeFigureOut">
              <a:rPr lang="en-FI" smtClean="0"/>
              <a:t>22/01/2026</a:t>
            </a:fld>
            <a:endParaRPr lang="en-FI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5709CB-3A0C-4198-86E0-BAF7BEF0C306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36844434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EFFCA3-C5F0-4E13-A6E8-DFCD5C9D7C47}" type="datetimeFigureOut">
              <a:rPr lang="en-FI" smtClean="0"/>
              <a:t>22/01/2026</a:t>
            </a:fld>
            <a:endParaRPr lang="en-FI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5709CB-3A0C-4198-86E0-BAF7BEF0C306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28753341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0CEFFCA3-C5F0-4E13-A6E8-DFCD5C9D7C47}" type="datetimeFigureOut">
              <a:rPr lang="en-FI" smtClean="0"/>
              <a:t>22/01/2026</a:t>
            </a:fld>
            <a:endParaRPr lang="en-FI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endParaRPr lang="en-FI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7B5709CB-3A0C-4198-86E0-BAF7BEF0C306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364740784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EFD37F5C-B498-7E9E-7268-B898BED7C5C1}"/>
              </a:ext>
            </a:extLst>
          </p:cNvPr>
          <p:cNvSpPr txBox="1"/>
          <p:nvPr/>
        </p:nvSpPr>
        <p:spPr>
          <a:xfrm>
            <a:off x="2670913" y="3293972"/>
            <a:ext cx="684937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6000" dirty="0">
                <a:solidFill>
                  <a:schemeClr val="accent5">
                    <a:lumMod val="20000"/>
                    <a:lumOff val="80000"/>
                  </a:schemeClr>
                </a:solidFill>
                <a:latin typeface="Lato Black" panose="020F0A02020204030203" pitchFamily="34" charset="0"/>
              </a:rPr>
              <a:t>MS SQL SERVER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1F6CB98-36C5-38E5-0DF0-29D3168418DC}"/>
              </a:ext>
            </a:extLst>
          </p:cNvPr>
          <p:cNvSpPr txBox="1"/>
          <p:nvPr/>
        </p:nvSpPr>
        <p:spPr>
          <a:xfrm>
            <a:off x="0" y="157641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dirty="0">
                <a:solidFill>
                  <a:schemeClr val="accent4">
                    <a:lumMod val="60000"/>
                    <a:lumOff val="40000"/>
                  </a:schemeClr>
                </a:solidFill>
                <a:latin typeface="Lato Black" panose="020F0A02020204030203" pitchFamily="34" charset="0"/>
              </a:rPr>
              <a:t>DATA ANALYST </a:t>
            </a:r>
            <a:r>
              <a:rPr lang="en-IN" sz="3600" dirty="0">
                <a:solidFill>
                  <a:schemeClr val="bg1"/>
                </a:solidFill>
                <a:latin typeface="Lato Black" panose="020F0A02020204030203" pitchFamily="34" charset="0"/>
              </a:rPr>
              <a:t>PORTFOLIO PROJECT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8907EC3-CB54-081F-6806-59FB3EDC3F65}"/>
              </a:ext>
            </a:extLst>
          </p:cNvPr>
          <p:cNvSpPr txBox="1"/>
          <p:nvPr/>
        </p:nvSpPr>
        <p:spPr>
          <a:xfrm>
            <a:off x="475491" y="1102030"/>
            <a:ext cx="1124021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6000" dirty="0">
                <a:solidFill>
                  <a:srgbClr val="FFFF00"/>
                </a:solidFill>
                <a:latin typeface="Lato Black" panose="020F0A02020204030203" pitchFamily="34" charset="0"/>
              </a:rPr>
              <a:t>BANK LOAN ANALYSIS</a:t>
            </a:r>
          </a:p>
        </p:txBody>
      </p:sp>
    </p:spTree>
    <p:extLst>
      <p:ext uri="{BB962C8B-B14F-4D97-AF65-F5344CB8AC3E}">
        <p14:creationId xmlns:p14="http://schemas.microsoft.com/office/powerpoint/2010/main" val="42885302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3F29DCE-4F9B-3E06-25A9-49C99130379C}"/>
              </a:ext>
            </a:extLst>
          </p:cNvPr>
          <p:cNvSpPr txBox="1"/>
          <p:nvPr/>
        </p:nvSpPr>
        <p:spPr>
          <a:xfrm>
            <a:off x="436352" y="1310135"/>
            <a:ext cx="1890980" cy="646331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n-IN" sz="3600" b="1" dirty="0">
                <a:solidFill>
                  <a:schemeClr val="accent4"/>
                </a:solidFill>
              </a:rPr>
              <a:t>IMPORT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FEE5224-59D0-0CB4-D868-7B2A980DA320}"/>
              </a:ext>
            </a:extLst>
          </p:cNvPr>
          <p:cNvSpPr txBox="1"/>
          <p:nvPr/>
        </p:nvSpPr>
        <p:spPr>
          <a:xfrm>
            <a:off x="2327698" y="1310135"/>
            <a:ext cx="1226385" cy="646331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chemeClr val="accent1">
                    <a:lumMod val="75000"/>
                  </a:schemeClr>
                </a:solidFill>
              </a:rPr>
              <a:t>DATA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3BF6A62-6D9A-3528-4276-57102C0BF48F}"/>
              </a:ext>
            </a:extLst>
          </p:cNvPr>
          <p:cNvSpPr txBox="1"/>
          <p:nvPr/>
        </p:nvSpPr>
        <p:spPr>
          <a:xfrm>
            <a:off x="2603736" y="119959"/>
            <a:ext cx="504789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800" dirty="0">
                <a:solidFill>
                  <a:schemeClr val="accent5">
                    <a:lumMod val="20000"/>
                    <a:lumOff val="80000"/>
                  </a:schemeClr>
                </a:solidFill>
                <a:latin typeface="Lato Black" panose="020F0A02020204030203" pitchFamily="34" charset="0"/>
              </a:rPr>
              <a:t>MS SQL SERVER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2646651-4D07-638D-94AF-12C3ADD276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5940" y="1310135"/>
            <a:ext cx="6222520" cy="5366087"/>
          </a:xfrm>
          <a:prstGeom prst="rect">
            <a:avLst/>
          </a:prstGeom>
        </p:spPr>
      </p:pic>
      <p:pic>
        <p:nvPicPr>
          <p:cNvPr id="9" name="Picture 18" descr="Data Import / Export through files — CMDBuild">
            <a:extLst>
              <a:ext uri="{FF2B5EF4-FFF2-40B4-BE49-F238E27FC236}">
                <a16:creationId xmlns:a16="http://schemas.microsoft.com/office/drawing/2014/main" id="{9851E5A0-2C71-1CF7-360D-B0C080A496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463" y="2108610"/>
            <a:ext cx="4050649" cy="40506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540285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6A577A3C-8BDB-56BA-633E-16205B278E35}"/>
              </a:ext>
            </a:extLst>
          </p:cNvPr>
          <p:cNvSpPr txBox="1"/>
          <p:nvPr/>
        </p:nvSpPr>
        <p:spPr>
          <a:xfrm>
            <a:off x="436352" y="1310135"/>
            <a:ext cx="2237836" cy="646331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n-IN" sz="3600" b="1" dirty="0">
                <a:solidFill>
                  <a:schemeClr val="accent4"/>
                </a:solidFill>
              </a:rPr>
              <a:t>CREATING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A05D65C-FEF3-B4EA-EBB1-061EF5E4281C}"/>
              </a:ext>
            </a:extLst>
          </p:cNvPr>
          <p:cNvSpPr txBox="1"/>
          <p:nvPr/>
        </p:nvSpPr>
        <p:spPr>
          <a:xfrm>
            <a:off x="2674189" y="1310135"/>
            <a:ext cx="879894" cy="646331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chemeClr val="accent1">
                    <a:lumMod val="75000"/>
                  </a:schemeClr>
                </a:solidFill>
              </a:rPr>
              <a:t>DB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D2C5993-1A7E-2257-A719-633485B11CEA}"/>
              </a:ext>
            </a:extLst>
          </p:cNvPr>
          <p:cNvSpPr txBox="1"/>
          <p:nvPr/>
        </p:nvSpPr>
        <p:spPr>
          <a:xfrm>
            <a:off x="2603736" y="119959"/>
            <a:ext cx="504789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800" dirty="0">
                <a:solidFill>
                  <a:schemeClr val="accent5">
                    <a:lumMod val="20000"/>
                    <a:lumOff val="80000"/>
                  </a:schemeClr>
                </a:solidFill>
                <a:latin typeface="Lato Black" panose="020F0A02020204030203" pitchFamily="34" charset="0"/>
              </a:rPr>
              <a:t>MS SQL SERVER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B01ADDCE-0998-425D-9A58-EE016290BB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5940" y="1310135"/>
            <a:ext cx="6222520" cy="5366087"/>
          </a:xfrm>
          <a:prstGeom prst="rect">
            <a:avLst/>
          </a:prstGeom>
        </p:spPr>
      </p:pic>
      <p:pic>
        <p:nvPicPr>
          <p:cNvPr id="17" name="Picture 2" descr="Add, create, database, hd, new, plus, server icon - Download on Iconfinder">
            <a:extLst>
              <a:ext uri="{FF2B5EF4-FFF2-40B4-BE49-F238E27FC236}">
                <a16:creationId xmlns:a16="http://schemas.microsoft.com/office/drawing/2014/main" id="{088B7569-922A-9A8F-8B55-FBDCEF0A77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827" y="2708337"/>
            <a:ext cx="2839528" cy="28395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280105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A2A3D0D-DDF0-B75E-2E66-13E023613410}"/>
              </a:ext>
            </a:extLst>
          </p:cNvPr>
          <p:cNvSpPr txBox="1"/>
          <p:nvPr/>
        </p:nvSpPr>
        <p:spPr>
          <a:xfrm>
            <a:off x="603850" y="1310135"/>
            <a:ext cx="1940943" cy="646331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n-IN" sz="3600" b="1" dirty="0">
                <a:solidFill>
                  <a:schemeClr val="accent4"/>
                </a:solidFill>
              </a:rPr>
              <a:t>WRITING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CDF014E-E113-E267-1E2F-E2465BD5AC91}"/>
              </a:ext>
            </a:extLst>
          </p:cNvPr>
          <p:cNvSpPr txBox="1"/>
          <p:nvPr/>
        </p:nvSpPr>
        <p:spPr>
          <a:xfrm>
            <a:off x="2544794" y="1310135"/>
            <a:ext cx="1858993" cy="646331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chemeClr val="accent1">
                    <a:lumMod val="75000"/>
                  </a:schemeClr>
                </a:solidFill>
              </a:rPr>
              <a:t>QUERIES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526BBC7-AD07-89BE-CDAF-EF8C8ED20231}"/>
              </a:ext>
            </a:extLst>
          </p:cNvPr>
          <p:cNvSpPr txBox="1"/>
          <p:nvPr/>
        </p:nvSpPr>
        <p:spPr>
          <a:xfrm>
            <a:off x="2603736" y="119959"/>
            <a:ext cx="504789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800" dirty="0">
                <a:solidFill>
                  <a:schemeClr val="accent5">
                    <a:lumMod val="20000"/>
                    <a:lumOff val="80000"/>
                  </a:schemeClr>
                </a:solidFill>
                <a:latin typeface="Lato Black" panose="020F0A02020204030203" pitchFamily="34" charset="0"/>
              </a:rPr>
              <a:t>MS SQL SERVER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1A6FD57-88FE-9417-94A8-05E1D5F38A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902" y="2194639"/>
            <a:ext cx="11600196" cy="4212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9425389"/>
      </p:ext>
    </p:extLst>
  </p:cSld>
  <p:clrMapOvr>
    <a:masterClrMapping/>
  </p:clrMapOvr>
  <p:transition spd="slow">
    <p:cover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7B21A84-16ED-E315-0365-C99EA56D38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040" y="2042239"/>
            <a:ext cx="11600196" cy="421249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8B2E6D4-5C36-6630-22D9-2DE480A57460}"/>
              </a:ext>
            </a:extLst>
          </p:cNvPr>
          <p:cNvSpPr txBox="1"/>
          <p:nvPr/>
        </p:nvSpPr>
        <p:spPr>
          <a:xfrm>
            <a:off x="219966" y="123823"/>
            <a:ext cx="1943416" cy="646331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>
                <a:solidFill>
                  <a:srgbClr val="FFFF00"/>
                </a:solidFill>
              </a:rPr>
              <a:t>SQL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B857CFF-1124-05A4-7DD1-784492F973DC}"/>
              </a:ext>
            </a:extLst>
          </p:cNvPr>
          <p:cNvSpPr txBox="1"/>
          <p:nvPr/>
        </p:nvSpPr>
        <p:spPr>
          <a:xfrm>
            <a:off x="552451" y="818455"/>
            <a:ext cx="110013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FIRING SQL QUERIES TO SOLVE THE BUSINESS PROBLEMS</a:t>
            </a:r>
          </a:p>
        </p:txBody>
      </p:sp>
    </p:spTree>
    <p:extLst>
      <p:ext uri="{BB962C8B-B14F-4D97-AF65-F5344CB8AC3E}">
        <p14:creationId xmlns:p14="http://schemas.microsoft.com/office/powerpoint/2010/main" val="3548737912"/>
      </p:ext>
    </p:extLst>
  </p:cSld>
  <p:clrMapOvr>
    <a:masterClrMapping/>
  </p:clrMapOvr>
  <p:transition spd="slow">
    <p:cover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2186767-6DBF-43ED-0334-E389A8026F75}"/>
              </a:ext>
            </a:extLst>
          </p:cNvPr>
          <p:cNvSpPr txBox="1"/>
          <p:nvPr/>
        </p:nvSpPr>
        <p:spPr>
          <a:xfrm>
            <a:off x="127778" y="57150"/>
            <a:ext cx="93972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4000" b="1">
                <a:solidFill>
                  <a:schemeClr val="bg1"/>
                </a:solidFill>
                <a:latin typeface="Lato Black" panose="020F0A02020204030203" pitchFamily="34" charset="0"/>
              </a:defRPr>
            </a:lvl1pPr>
          </a:lstStyle>
          <a:p>
            <a:r>
              <a:rPr lang="en-IN" sz="3200" b="1" dirty="0">
                <a:solidFill>
                  <a:schemeClr val="bg1"/>
                </a:solidFill>
                <a:latin typeface="Lato Black" panose="020F0A02020204030203" pitchFamily="34" charset="0"/>
              </a:rPr>
              <a:t>PROBLEM STATEMENT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058CA99-5896-CF6F-E3D9-47410F2EEA1D}"/>
              </a:ext>
            </a:extLst>
          </p:cNvPr>
          <p:cNvSpPr txBox="1"/>
          <p:nvPr/>
        </p:nvSpPr>
        <p:spPr>
          <a:xfrm>
            <a:off x="127778" y="781050"/>
            <a:ext cx="36290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u="sng" kern="100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highlight>
                  <a:srgbClr val="008000"/>
                </a:highligh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DASHBOARD 1: SUMMARY</a:t>
            </a:r>
            <a:endParaRPr lang="en-IN" sz="2400" kern="100" dirty="0">
              <a:solidFill>
                <a:schemeClr val="accent4">
                  <a:lumMod val="60000"/>
                  <a:lumOff val="40000"/>
                </a:schemeClr>
              </a:solidFill>
              <a:effectLst/>
              <a:highlight>
                <a:srgbClr val="008000"/>
              </a:highlight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3EF215-20BB-527A-E72D-12F6F9355EC2}"/>
              </a:ext>
            </a:extLst>
          </p:cNvPr>
          <p:cNvSpPr txBox="1"/>
          <p:nvPr/>
        </p:nvSpPr>
        <p:spPr>
          <a:xfrm>
            <a:off x="228600" y="1371600"/>
            <a:ext cx="11835622" cy="54046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kern="100" dirty="0">
                <a:solidFill>
                  <a:schemeClr val="tx1">
                    <a:lumMod val="8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Key Performance Indicators (KPIs) Requirements:</a:t>
            </a:r>
            <a:endParaRPr lang="en-IN" sz="2400" kern="100" dirty="0">
              <a:solidFill>
                <a:schemeClr val="tx1">
                  <a:lumMod val="8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IN" sz="1800" b="1" kern="100" dirty="0">
                <a:solidFill>
                  <a:schemeClr val="tx1">
                    <a:lumMod val="8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Total Loan Applications:</a:t>
            </a:r>
            <a:r>
              <a:rPr lang="en-IN" sz="1800" kern="100" dirty="0">
                <a:solidFill>
                  <a:schemeClr val="tx1">
                    <a:lumMod val="8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We need to calculate the total number of loan applications received during a specified period. Additionally, it is essential to monitor the Month-to-Date (MTD) Loan Applications and track changes Month-over-Month (MoM).</a:t>
            </a: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IN" b="1" kern="100" dirty="0">
                <a:solidFill>
                  <a:schemeClr val="tx1">
                    <a:lumMod val="8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Total Funded Amount: </a:t>
            </a:r>
            <a:r>
              <a:rPr lang="en-IN" sz="1800" kern="100" dirty="0">
                <a:solidFill>
                  <a:schemeClr val="tx1">
                    <a:lumMod val="8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Understanding the total amount of funds disbursed as loans is crucial. We also want to keep an eye on the MTD Total Funded Amount and analyse the Month-over-Month (MoM) changes in this metric.</a:t>
            </a: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IN" b="1" kern="100" dirty="0">
                <a:solidFill>
                  <a:schemeClr val="tx1">
                    <a:lumMod val="8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Total Amount Received: </a:t>
            </a:r>
            <a:r>
              <a:rPr lang="en-IN" sz="1800" kern="100" dirty="0">
                <a:solidFill>
                  <a:schemeClr val="tx1">
                    <a:lumMod val="8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Tracking the total amount received from borrowers is essential for assessing the bank's cash flow and loan repayment. We should analyse the Month-to-Date (MTD) Total Amount Received and observe the Month-over-Month (MoM) changes.</a:t>
            </a: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IN" b="1" kern="100" dirty="0">
                <a:solidFill>
                  <a:schemeClr val="tx1">
                    <a:lumMod val="8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Average Interest Rate: </a:t>
            </a:r>
            <a:r>
              <a:rPr lang="en-IN" sz="1800" kern="100" dirty="0">
                <a:solidFill>
                  <a:schemeClr val="tx1">
                    <a:lumMod val="8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Calculating the average interest rate across all loans, MTD, and monitoring the Month-over-Month (MoM) variations in interest rates will provide insights into our lending portfolio's overall cost.</a:t>
            </a:r>
          </a:p>
          <a:p>
            <a:pPr marL="342900" lvl="0" indent="-342900" algn="just">
              <a:lnSpc>
                <a:spcPct val="150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n-IN" b="1" kern="100" dirty="0">
                <a:solidFill>
                  <a:schemeClr val="tx1">
                    <a:lumMod val="8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Average Debt-to-Income Ratio (DTI): </a:t>
            </a:r>
            <a:r>
              <a:rPr lang="en-IN" sz="1800" kern="100" dirty="0">
                <a:solidFill>
                  <a:schemeClr val="tx1">
                    <a:lumMod val="8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Evaluating the average DTI for our borrowers helps us gauge their financial health. We need to compute the average DTI for all loans, MTD, and track Month-over-Month (MoM) fluctuations.</a:t>
            </a:r>
          </a:p>
        </p:txBody>
      </p:sp>
    </p:spTree>
    <p:extLst>
      <p:ext uri="{BB962C8B-B14F-4D97-AF65-F5344CB8AC3E}">
        <p14:creationId xmlns:p14="http://schemas.microsoft.com/office/powerpoint/2010/main" val="2377672083"/>
      </p:ext>
    </p:extLst>
  </p:cSld>
  <p:clrMapOvr>
    <a:masterClrMapping/>
  </p:clrMapOvr>
  <p:transition spd="slow">
    <p:cover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2186767-6DBF-43ED-0334-E389A8026F75}"/>
              </a:ext>
            </a:extLst>
          </p:cNvPr>
          <p:cNvSpPr txBox="1"/>
          <p:nvPr/>
        </p:nvSpPr>
        <p:spPr>
          <a:xfrm>
            <a:off x="127778" y="57150"/>
            <a:ext cx="93972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4000" b="1">
                <a:solidFill>
                  <a:schemeClr val="bg1"/>
                </a:solidFill>
                <a:latin typeface="Lato Black" panose="020F0A02020204030203" pitchFamily="34" charset="0"/>
              </a:defRPr>
            </a:lvl1pPr>
          </a:lstStyle>
          <a:p>
            <a:r>
              <a:rPr lang="en-IN" sz="3200" b="1" dirty="0">
                <a:solidFill>
                  <a:schemeClr val="bg1"/>
                </a:solidFill>
                <a:latin typeface="Lato Black" panose="020F0A02020204030203" pitchFamily="34" charset="0"/>
              </a:rPr>
              <a:t>PROBLEM STATEMENT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058CA99-5896-CF6F-E3D9-47410F2EEA1D}"/>
              </a:ext>
            </a:extLst>
          </p:cNvPr>
          <p:cNvSpPr txBox="1"/>
          <p:nvPr/>
        </p:nvSpPr>
        <p:spPr>
          <a:xfrm>
            <a:off x="127778" y="781050"/>
            <a:ext cx="36290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u="sng" kern="100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highlight>
                  <a:srgbClr val="008000"/>
                </a:highligh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DASHBOARD 1: SUMMARY</a:t>
            </a:r>
            <a:endParaRPr lang="en-IN" sz="2400" kern="100" dirty="0">
              <a:solidFill>
                <a:schemeClr val="accent4">
                  <a:lumMod val="60000"/>
                  <a:lumOff val="40000"/>
                </a:schemeClr>
              </a:solidFill>
              <a:effectLst/>
              <a:highlight>
                <a:srgbClr val="008000"/>
              </a:highlight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3EF215-20BB-527A-E72D-12F6F9355EC2}"/>
              </a:ext>
            </a:extLst>
          </p:cNvPr>
          <p:cNvSpPr txBox="1"/>
          <p:nvPr/>
        </p:nvSpPr>
        <p:spPr>
          <a:xfrm>
            <a:off x="208552" y="1381840"/>
            <a:ext cx="4981575" cy="24961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kern="100" dirty="0">
                <a:solidFill>
                  <a:schemeClr val="tx1">
                    <a:lumMod val="8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Good Loan v Bad Loan KPI’s</a:t>
            </a:r>
          </a:p>
          <a:p>
            <a:endParaRPr lang="en-IN" sz="1200" b="1" kern="100" dirty="0">
              <a:solidFill>
                <a:schemeClr val="tx1">
                  <a:lumMod val="8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IN" sz="2000" b="1" kern="100" dirty="0">
                <a:solidFill>
                  <a:schemeClr val="tx1">
                    <a:lumMod val="8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Good Loan: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1800" b="1" dirty="0">
                <a:solidFill>
                  <a:schemeClr val="tx1">
                    <a:lumMod val="8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Good Loan Application Percentage</a:t>
            </a:r>
            <a:endParaRPr lang="en-IN" sz="2400" b="1" kern="100" dirty="0">
              <a:solidFill>
                <a:schemeClr val="tx1">
                  <a:lumMod val="8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1800" b="1" dirty="0">
                <a:solidFill>
                  <a:schemeClr val="tx1">
                    <a:lumMod val="8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Good Loan Applications</a:t>
            </a:r>
            <a:endParaRPr lang="en-IN" sz="2400" b="1" kern="100" dirty="0">
              <a:solidFill>
                <a:schemeClr val="tx1">
                  <a:lumMod val="8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1800" b="1" dirty="0">
                <a:solidFill>
                  <a:schemeClr val="tx1">
                    <a:lumMod val="8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Good Loan Funded Amount</a:t>
            </a:r>
            <a:endParaRPr lang="en-IN" sz="2400" b="1" kern="100" dirty="0">
              <a:solidFill>
                <a:schemeClr val="tx1">
                  <a:lumMod val="8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1800" b="1" dirty="0">
                <a:solidFill>
                  <a:schemeClr val="tx1">
                    <a:lumMod val="8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Good Loan Total Received Amount</a:t>
            </a:r>
            <a:endParaRPr lang="en-IN" sz="2400" kern="100" dirty="0">
              <a:solidFill>
                <a:schemeClr val="tx1">
                  <a:lumMod val="8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BC36B1B-46BC-47F8-6C86-7B04F62B2F7F}"/>
              </a:ext>
            </a:extLst>
          </p:cNvPr>
          <p:cNvSpPr txBox="1"/>
          <p:nvPr/>
        </p:nvSpPr>
        <p:spPr>
          <a:xfrm>
            <a:off x="7001874" y="1966615"/>
            <a:ext cx="4391025" cy="19114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kern="100" dirty="0">
                <a:solidFill>
                  <a:schemeClr val="tx1">
                    <a:lumMod val="8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Bad Loan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1800" b="1" dirty="0">
                <a:solidFill>
                  <a:schemeClr val="tx1">
                    <a:lumMod val="8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Bad Loan Application Percentage</a:t>
            </a:r>
            <a:endParaRPr lang="en-IN" sz="2400" b="1" kern="100" dirty="0">
              <a:solidFill>
                <a:schemeClr val="tx1">
                  <a:lumMod val="8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1800" b="1" dirty="0">
                <a:solidFill>
                  <a:schemeClr val="tx1">
                    <a:lumMod val="8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Bad Loan Applications</a:t>
            </a:r>
            <a:endParaRPr lang="en-IN" sz="2400" b="1" kern="100" dirty="0">
              <a:solidFill>
                <a:schemeClr val="tx1">
                  <a:lumMod val="8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1800" b="1" dirty="0">
                <a:solidFill>
                  <a:schemeClr val="tx1">
                    <a:lumMod val="8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Bad Loan Funded Amount</a:t>
            </a:r>
            <a:endParaRPr lang="en-IN" sz="2400" b="1" kern="100" dirty="0">
              <a:solidFill>
                <a:schemeClr val="tx1">
                  <a:lumMod val="8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1800" b="1" dirty="0">
                <a:solidFill>
                  <a:schemeClr val="tx1">
                    <a:lumMod val="8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Bad Loan Total Received Amount</a:t>
            </a:r>
            <a:endParaRPr lang="en-IN" sz="2400" kern="100" dirty="0">
              <a:solidFill>
                <a:schemeClr val="tx1">
                  <a:lumMod val="8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5340642-52BE-80AC-4C5E-F8F223F9BB8F}"/>
              </a:ext>
            </a:extLst>
          </p:cNvPr>
          <p:cNvSpPr txBox="1"/>
          <p:nvPr/>
        </p:nvSpPr>
        <p:spPr>
          <a:xfrm>
            <a:off x="228599" y="4159439"/>
            <a:ext cx="11572876" cy="20261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Aft>
                <a:spcPts val="800"/>
              </a:spcAft>
            </a:pPr>
            <a:r>
              <a:rPr lang="en-IN" sz="2400" b="1" kern="100" dirty="0">
                <a:solidFill>
                  <a:schemeClr val="accent2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Loan Status Grid View</a:t>
            </a:r>
          </a:p>
          <a:p>
            <a:pPr algn="just">
              <a:spcAft>
                <a:spcPts val="800"/>
              </a:spcAft>
            </a:pPr>
            <a:r>
              <a:rPr lang="en-IN" sz="1900" dirty="0">
                <a:solidFill>
                  <a:schemeClr val="tx1">
                    <a:lumMod val="8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 order to gain a comprehensive overview of our lending operations and monitor the performance of loans, we aim to create a grid view report categorized by 'Loan Status.’ By providing insights into metrics such as 'Total Loan Applications,' 'Total Funded Amount,' 'Total Amount Received,' 'Month-to-Date (MTD) Funded Amount,' 'MTD Amount Received,' 'Average Interest Rate,' and 'Average Debt-to-Income Ratio (DTI),' this grid view will empower us to make data-driven decisions and assess the health of our loan portfolio.</a:t>
            </a:r>
            <a:endParaRPr lang="en-IN" sz="1900" b="1" kern="100" dirty="0">
              <a:solidFill>
                <a:schemeClr val="tx1">
                  <a:lumMod val="8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8389533"/>
      </p:ext>
    </p:extLst>
  </p:cSld>
  <p:clrMapOvr>
    <a:masterClrMapping/>
  </p:clrMapOvr>
  <p:transition spd="slow">
    <p:cover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2186767-6DBF-43ED-0334-E389A8026F75}"/>
              </a:ext>
            </a:extLst>
          </p:cNvPr>
          <p:cNvSpPr txBox="1"/>
          <p:nvPr/>
        </p:nvSpPr>
        <p:spPr>
          <a:xfrm>
            <a:off x="127778" y="57150"/>
            <a:ext cx="93972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4000" b="1">
                <a:solidFill>
                  <a:schemeClr val="bg1"/>
                </a:solidFill>
                <a:latin typeface="Lato Black" panose="020F0A02020204030203" pitchFamily="34" charset="0"/>
              </a:defRPr>
            </a:lvl1pPr>
          </a:lstStyle>
          <a:p>
            <a:r>
              <a:rPr lang="en-IN" sz="3200" b="1" dirty="0">
                <a:solidFill>
                  <a:schemeClr val="bg1"/>
                </a:solidFill>
                <a:latin typeface="Lato Black" panose="020F0A02020204030203" pitchFamily="34" charset="0"/>
              </a:rPr>
              <a:t>PROBLEM STATEMENT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058CA99-5896-CF6F-E3D9-47410F2EEA1D}"/>
              </a:ext>
            </a:extLst>
          </p:cNvPr>
          <p:cNvSpPr txBox="1"/>
          <p:nvPr/>
        </p:nvSpPr>
        <p:spPr>
          <a:xfrm>
            <a:off x="127778" y="781050"/>
            <a:ext cx="36290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u="sng" kern="100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highlight>
                  <a:srgbClr val="008000"/>
                </a:highligh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DASHBOARD 2: OVERVIEW</a:t>
            </a:r>
            <a:endParaRPr lang="en-IN" sz="2400" kern="100" dirty="0">
              <a:solidFill>
                <a:schemeClr val="accent4">
                  <a:lumMod val="60000"/>
                  <a:lumOff val="40000"/>
                </a:schemeClr>
              </a:solidFill>
              <a:effectLst/>
              <a:highlight>
                <a:srgbClr val="008000"/>
              </a:highlight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3EF215-20BB-527A-E72D-12F6F9355EC2}"/>
              </a:ext>
            </a:extLst>
          </p:cNvPr>
          <p:cNvSpPr txBox="1"/>
          <p:nvPr/>
        </p:nvSpPr>
        <p:spPr>
          <a:xfrm>
            <a:off x="228600" y="1314450"/>
            <a:ext cx="11420475" cy="54014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kern="100" dirty="0">
                <a:solidFill>
                  <a:schemeClr val="tx1">
                    <a:lumMod val="8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CHARTS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b="1" kern="100" dirty="0">
                <a:solidFill>
                  <a:schemeClr val="tx1">
                    <a:lumMod val="8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Monthly Trends by Issue Date (Line Chart):  </a:t>
            </a:r>
            <a:r>
              <a:rPr lang="en-IN" kern="100" dirty="0">
                <a:solidFill>
                  <a:schemeClr val="tx1">
                    <a:lumMod val="8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 </a:t>
            </a:r>
            <a:r>
              <a:rPr lang="en-IN" dirty="0">
                <a:solidFill>
                  <a:schemeClr val="tx1">
                    <a:lumMod val="8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identify seasonality and long-term trends in lending activities</a:t>
            </a:r>
            <a:endParaRPr lang="en-IN" kern="100" dirty="0">
              <a:solidFill>
                <a:schemeClr val="tx1">
                  <a:lumMod val="8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b="1" dirty="0">
                <a:solidFill>
                  <a:schemeClr val="tx1">
                    <a:lumMod val="8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Regional Analysis by State (Filled Map</a:t>
            </a:r>
            <a:r>
              <a:rPr lang="en-IN" b="1" dirty="0">
                <a:solidFill>
                  <a:schemeClr val="tx1">
                    <a:lumMod val="8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):</a:t>
            </a:r>
            <a:r>
              <a:rPr lang="en-IN" dirty="0">
                <a:solidFill>
                  <a:schemeClr val="tx1">
                    <a:lumMod val="8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To identify regions with significant lending activity and assess regional disparities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b="1" dirty="0">
                <a:solidFill>
                  <a:schemeClr val="tx1">
                    <a:lumMod val="8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Loan Term Analysis (Donut Chart): </a:t>
            </a:r>
            <a:r>
              <a:rPr lang="en-IN" dirty="0">
                <a:solidFill>
                  <a:schemeClr val="tx1">
                    <a:lumMod val="8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 allow the client to understand the distribution of loans across various term lengths.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b="1" dirty="0">
                <a:solidFill>
                  <a:schemeClr val="tx1">
                    <a:lumMod val="8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Employee Length Analysis (Bar Chart): </a:t>
            </a:r>
            <a:r>
              <a:rPr lang="en-IN" dirty="0">
                <a:solidFill>
                  <a:schemeClr val="tx1">
                    <a:lumMod val="8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How lending metrics are distributed among borrowers with different employment lengths, helping us assess the impact of employment history on loan applications.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b="1" dirty="0">
                <a:solidFill>
                  <a:schemeClr val="tx1">
                    <a:lumMod val="8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Loan Purpose Breakdown (Bar Chart): W</a:t>
            </a:r>
            <a:r>
              <a:rPr lang="en-IN" dirty="0">
                <a:solidFill>
                  <a:schemeClr val="tx1">
                    <a:lumMod val="8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ill provide a visual breakdown of loan metrics based on the stated purposes of loans, aiding in the understanding of the primary reasons borrowers seek financing.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b="1" dirty="0">
                <a:solidFill>
                  <a:schemeClr val="tx1">
                    <a:lumMod val="8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Home Ownership Analysis (Tree Map): </a:t>
            </a:r>
            <a:r>
              <a:rPr lang="en-IN" dirty="0">
                <a:solidFill>
                  <a:schemeClr val="tx1">
                    <a:lumMod val="8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For a hierarchical view of how home ownership impacts loan applications and disbursements.</a:t>
            </a:r>
            <a:endParaRPr lang="en-IN" b="1" kern="100" dirty="0">
              <a:solidFill>
                <a:schemeClr val="tx1">
                  <a:lumMod val="8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IN" b="1" i="1" u="sng" kern="100" dirty="0">
                <a:solidFill>
                  <a:schemeClr val="tx1">
                    <a:lumMod val="8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Metrics to be shown: 'Total Loan Applications,' 'Total Funded Amount,' and 'Total Amount Received'</a:t>
            </a:r>
          </a:p>
        </p:txBody>
      </p:sp>
    </p:spTree>
    <p:extLst>
      <p:ext uri="{BB962C8B-B14F-4D97-AF65-F5344CB8AC3E}">
        <p14:creationId xmlns:p14="http://schemas.microsoft.com/office/powerpoint/2010/main" val="1142964218"/>
      </p:ext>
    </p:extLst>
  </p:cSld>
  <p:clrMapOvr>
    <a:masterClrMapping/>
  </p:clrMapOvr>
  <p:transition spd="slow">
    <p:cover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2186767-6DBF-43ED-0334-E389A8026F75}"/>
              </a:ext>
            </a:extLst>
          </p:cNvPr>
          <p:cNvSpPr txBox="1"/>
          <p:nvPr/>
        </p:nvSpPr>
        <p:spPr>
          <a:xfrm>
            <a:off x="127778" y="57150"/>
            <a:ext cx="93972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4000" b="1">
                <a:solidFill>
                  <a:schemeClr val="bg1"/>
                </a:solidFill>
                <a:latin typeface="Lato Black" panose="020F0A02020204030203" pitchFamily="34" charset="0"/>
              </a:defRPr>
            </a:lvl1pPr>
          </a:lstStyle>
          <a:p>
            <a:r>
              <a:rPr lang="en-IN" sz="3200" dirty="0"/>
              <a:t>FUNCTIONALITIES YOU WILL LEARN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0646760-0DB5-6324-7B30-1D918A65A865}"/>
              </a:ext>
            </a:extLst>
          </p:cNvPr>
          <p:cNvSpPr txBox="1"/>
          <p:nvPr/>
        </p:nvSpPr>
        <p:spPr>
          <a:xfrm>
            <a:off x="1647825" y="1144432"/>
            <a:ext cx="2909078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Creating Database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Creating Table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Select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Datename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Datepart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Cast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Decimal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Month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Hour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Quarter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Day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Group by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Order by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Decimal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Limit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Count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Distinct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CTE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Partition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4CDC267-C4AE-056C-B4A2-9F57B5EF2822}"/>
              </a:ext>
            </a:extLst>
          </p:cNvPr>
          <p:cNvSpPr txBox="1"/>
          <p:nvPr/>
        </p:nvSpPr>
        <p:spPr>
          <a:xfrm>
            <a:off x="1631335" y="767141"/>
            <a:ext cx="26630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Rockwell Extra Bold" panose="02060903040505020403" pitchFamily="18" charset="0"/>
              </a:rPr>
              <a:t>SQL – MS SQL SERVER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E141D8C-EC5D-22DE-B591-0E506E4E2BA6}"/>
              </a:ext>
            </a:extLst>
          </p:cNvPr>
          <p:cNvSpPr txBox="1"/>
          <p:nvPr/>
        </p:nvSpPr>
        <p:spPr>
          <a:xfrm>
            <a:off x="6400798" y="1140838"/>
            <a:ext cx="3048000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Connecting to SQL Server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Data Cleaning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Data Modelling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Data Processing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Power Query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Date Tables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Time Intelligence </a:t>
            </a:r>
            <a:r>
              <a:rPr lang="en-IN" b="1" dirty="0" err="1">
                <a:solidFill>
                  <a:schemeClr val="accent2">
                    <a:lumMod val="20000"/>
                    <a:lumOff val="80000"/>
                  </a:schemeClr>
                </a:solidFill>
              </a:rPr>
              <a:t>Func</a:t>
            </a:r>
            <a:endParaRPr lang="en-IN" b="1" dirty="0">
              <a:solidFill>
                <a:schemeClr val="accent2">
                  <a:lumMod val="20000"/>
                  <a:lumOff val="80000"/>
                </a:schemeClr>
              </a:solidFill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DAX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Date Function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Text Function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Filter Function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Calculate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SUM/ SUMX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Creating KPI’s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New Card Visual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Creating Charts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Formatting visuals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Creating Functions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Navigations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8D39873-19FF-7E34-62AE-83E4D322A2EE}"/>
              </a:ext>
            </a:extLst>
          </p:cNvPr>
          <p:cNvSpPr txBox="1"/>
          <p:nvPr/>
        </p:nvSpPr>
        <p:spPr>
          <a:xfrm>
            <a:off x="6661925" y="767141"/>
            <a:ext cx="178674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rgbClr val="FFFF00"/>
                </a:solidFill>
                <a:latin typeface="Rockwell Extra Bold" panose="02060903040505020403" pitchFamily="18" charset="0"/>
              </a:rPr>
              <a:t>POWER BI</a:t>
            </a:r>
          </a:p>
        </p:txBody>
      </p:sp>
    </p:spTree>
    <p:extLst>
      <p:ext uri="{BB962C8B-B14F-4D97-AF65-F5344CB8AC3E}">
        <p14:creationId xmlns:p14="http://schemas.microsoft.com/office/powerpoint/2010/main" val="639557344"/>
      </p:ext>
    </p:extLst>
  </p:cSld>
  <p:clrMapOvr>
    <a:masterClrMapping/>
  </p:clrMapOvr>
  <p:transition spd="slow">
    <p:cover/>
  </p:transition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538D9D"/>
      </a:hlink>
      <a:folHlink>
        <a:srgbClr val="A5738E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3A418E6B-C5F0-4B95-8D77-61E3EF3B5DF5}"/>
    </a:ext>
  </a:extLst>
</a:theme>
</file>

<file path=docMetadata/LabelInfo.xml><?xml version="1.0" encoding="utf-8"?>
<clbl:labelList xmlns:clbl="http://schemas.microsoft.com/office/2020/mipLabelMetadata">
  <clbl:label id="{5b59d994-1032-4fbc-8705-36544c6e0edb}" enabled="0" method="" siteId="{5b59d994-1032-4fbc-8705-36544c6e0edb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</TotalTime>
  <Words>639</Words>
  <Application>Microsoft Office PowerPoint</Application>
  <PresentationFormat>Widescreen</PresentationFormat>
  <Paragraphs>89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7" baseType="lpstr">
      <vt:lpstr>Aptos</vt:lpstr>
      <vt:lpstr>Aptos Display</vt:lpstr>
      <vt:lpstr>Arial</vt:lpstr>
      <vt:lpstr>Calibri</vt:lpstr>
      <vt:lpstr>Lato Black</vt:lpstr>
      <vt:lpstr>Rockwell Extra Bold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Gupta Santosh LBE23S</dc:creator>
  <cp:lastModifiedBy>Gupta Santosh LBE23S</cp:lastModifiedBy>
  <cp:revision>1</cp:revision>
  <dcterms:created xsi:type="dcterms:W3CDTF">2026-01-22T19:24:37Z</dcterms:created>
  <dcterms:modified xsi:type="dcterms:W3CDTF">2026-01-22T19:30:03Z</dcterms:modified>
</cp:coreProperties>
</file>